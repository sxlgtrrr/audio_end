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70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1" r:id="rId16"/>
    <p:sldId id="268" r:id="rId17"/>
    <p:sldId id="272" r:id="rId18"/>
    <p:sldId id="273" r:id="rId19"/>
    <p:sldId id="274" r:id="rId20"/>
    <p:sldId id="28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7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15465"/>
            <a:ext cx="731520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335780"/>
            <a:ext cx="731520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99970"/>
            <a:ext cx="7315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黑体" panose="02010609060101010101" charset="-122"/>
              </a:rPr>
              <a:t>基于 CTM 时序推理的语音情感识别</a:t>
            </a:r>
            <a:endParaRPr sz="3600" b="1">
              <a:solidFill>
                <a:srgbClr val="FFFFFF"/>
              </a:solidFill>
              <a:latin typeface="黑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27100" y="331343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AEC6E0"/>
                </a:solidFill>
                <a:latin typeface="黑体" panose="02010609060101010101" charset="-122"/>
              </a:rPr>
              <a:t>WavLM · Emotion-CTM · SupCon 对比学习 · 多模型融合</a:t>
            </a:r>
            <a:endParaRPr sz="1800">
              <a:solidFill>
                <a:srgbClr val="AEC6E0"/>
              </a:solidFill>
              <a:latin typeface="黑体" panose="02010609060101010101" charset="-122"/>
            </a:endParaRPr>
          </a:p>
          <a:p>
            <a:pPr algn="ctr">
              <a:spcBef>
                <a:spcPts val="1200"/>
              </a:spcBef>
            </a:pPr>
            <a:r>
              <a:rPr sz="1400">
                <a:solidFill>
                  <a:srgbClr val="7F8C8D"/>
                </a:solidFill>
                <a:latin typeface="黑体" panose="02010609060101010101" charset="-122"/>
              </a:rPr>
              <a:t>语音信息处理课程设计</a:t>
            </a:r>
            <a:endParaRPr sz="1400">
              <a:solidFill>
                <a:srgbClr val="7F8C8D"/>
              </a:solidFill>
              <a:latin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02660" y="4745355"/>
            <a:ext cx="21386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BDC3C7"/>
                </a:solidFill>
                <a:latin typeface="黑体" panose="02010609060101010101" charset="-122"/>
              </a:rPr>
              <a:t>姓名  </a:t>
            </a:r>
            <a:r>
              <a:rPr lang="en-US" sz="1400">
                <a:solidFill>
                  <a:srgbClr val="BDC3C7"/>
                </a:solidFill>
                <a:latin typeface="黑体" panose="02010609060101010101" charset="-122"/>
              </a:rPr>
              <a:t>2023211833</a:t>
            </a:r>
            <a:r>
              <a:rPr lang="zh-CN" altLang="en-US" sz="1400">
                <a:solidFill>
                  <a:srgbClr val="BDC3C7"/>
                </a:solidFill>
                <a:latin typeface="黑体" panose="02010609060101010101" charset="-122"/>
              </a:rPr>
              <a:t>冯昱</a:t>
            </a:r>
            <a:r>
              <a:rPr lang="zh-CN" altLang="en-US" sz="1400">
                <a:solidFill>
                  <a:srgbClr val="BDC3C7"/>
                </a:solidFill>
                <a:latin typeface="黑体" panose="02010609060101010101" charset="-122"/>
              </a:rPr>
              <a:t>皓</a:t>
            </a:r>
            <a:endParaRPr lang="zh-CN" altLang="en-US" sz="1400">
              <a:solidFill>
                <a:srgbClr val="BDC3C7"/>
              </a:solidFill>
              <a:latin typeface="黑体" panose="02010609060101010101" charset="-122"/>
            </a:endParaRPr>
          </a:p>
          <a:p>
            <a:pPr algn="ctr"/>
            <a:r>
              <a:rPr lang="en-US" altLang="zh-CN" sz="1400">
                <a:solidFill>
                  <a:srgbClr val="BDC3C7"/>
                </a:solidFill>
                <a:latin typeface="黑体" panose="02010609060101010101" charset="-122"/>
              </a:rPr>
              <a:t>      2023211636</a:t>
            </a:r>
            <a:r>
              <a:rPr lang="zh-CN" altLang="en-US" sz="1400">
                <a:solidFill>
                  <a:srgbClr val="BDC3C7"/>
                </a:solidFill>
                <a:latin typeface="黑体" panose="02010609060101010101" charset="-122"/>
              </a:rPr>
              <a:t>史熙来</a:t>
            </a:r>
            <a:endParaRPr lang="zh-CN" altLang="en-US" sz="1400">
              <a:solidFill>
                <a:srgbClr val="BDC3C7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C3E50"/>
                </a:solidFill>
                <a:latin typeface="黑体" panose="02010609060101010101" charset="-122"/>
              </a:rPr>
              <a:t>02</a:t>
            </a:r>
            <a:endParaRPr sz="4000" b="1">
              <a:solidFill>
                <a:srgbClr val="2C3E50"/>
              </a:solidFill>
              <a:latin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C3E50"/>
                </a:solidFill>
                <a:latin typeface="Arial" panose="020B0604020202020204"/>
              </a:rPr>
              <a:t>AGENDA</a:t>
            </a:r>
            <a:endParaRPr sz="2800" b="1">
              <a:solidFill>
                <a:srgbClr val="2C3E50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84124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7F8C8D"/>
                </a:solidFill>
                <a:latin typeface="Arial" panose="020B0604020202020204"/>
              </a:rPr>
              <a:t>汇报提纲 · 共 14 页</a:t>
            </a:r>
            <a:endParaRPr sz="1400" i="1">
              <a:solidFill>
                <a:srgbClr val="7F8C8D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71600" y="128016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737360"/>
            <a:ext cx="292608" cy="29260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00200" y="1755648"/>
            <a:ext cx="6583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C3E50"/>
                </a:solidFill>
                <a:latin typeface="黑体" panose="02010609060101010101" charset="-122"/>
              </a:rPr>
              <a:t>研究背景与动机  —  语音情感识别的挑战与意义</a:t>
            </a:r>
            <a:endParaRPr sz="1200">
              <a:solidFill>
                <a:srgbClr val="2C3E50"/>
              </a:solidFill>
              <a:latin typeface="黑体" panose="02010609060101010101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51560" y="2194560"/>
            <a:ext cx="292608" cy="29260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00200" y="2212848"/>
            <a:ext cx="6583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C3E50"/>
                </a:solidFill>
                <a:latin typeface="黑体" panose="02010609060101010101" charset="-122"/>
              </a:rPr>
              <a:t>数据集与任务定义  —  CREMA-D · 6 分类 · 说话人独立</a:t>
            </a:r>
            <a:endParaRPr sz="1200">
              <a:solidFill>
                <a:srgbClr val="2C3E50"/>
              </a:solidFill>
              <a:latin typeface="黑体" panose="02010609060101010101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51560" y="2651760"/>
            <a:ext cx="292608" cy="29260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00200" y="2670048"/>
            <a:ext cx="6583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C3E50"/>
                </a:solidFill>
                <a:latin typeface="黑体" panose="02010609060101010101" charset="-122"/>
              </a:rPr>
              <a:t>基线系统  —  WavLM + Attention Pooling</a:t>
            </a:r>
            <a:endParaRPr sz="1200">
              <a:solidFill>
                <a:srgbClr val="2C3E50"/>
              </a:solidFill>
              <a:latin typeface="黑体" panose="02010609060101010101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51560" y="3108960"/>
            <a:ext cx="292608" cy="29260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00200" y="3127248"/>
            <a:ext cx="6583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C3E50"/>
                </a:solidFill>
                <a:latin typeface="黑体" panose="02010609060101010101" charset="-122"/>
              </a:rPr>
              <a:t>Emotion-CTM 时序推理  —  迭代交叉注意力 · 同步表征</a:t>
            </a:r>
            <a:endParaRPr sz="1200">
              <a:solidFill>
                <a:srgbClr val="2C3E50"/>
              </a:solidFill>
              <a:latin typeface="黑体" panose="02010609060101010101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51560" y="3566160"/>
            <a:ext cx="292608" cy="29260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 panose="020B0604020202020204"/>
              </a:rPr>
              <a:t>5</a:t>
            </a:r>
            <a:endParaRPr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00200" y="3584448"/>
            <a:ext cx="6583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C3E50"/>
                </a:solidFill>
                <a:latin typeface="黑体" panose="02010609060101010101" charset="-122"/>
              </a:rPr>
              <a:t>对比学习损失  —  SupCon · Center Loss</a:t>
            </a:r>
            <a:endParaRPr sz="1200">
              <a:solidFill>
                <a:srgbClr val="2C3E50"/>
              </a:solidFill>
              <a:latin typeface="黑体" panose="02010609060101010101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051560" y="4023360"/>
            <a:ext cx="292608" cy="29260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 panose="020B0604020202020204"/>
              </a:rPr>
              <a:t>6</a:t>
            </a:r>
            <a:endParaRPr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00200" y="4041648"/>
            <a:ext cx="6583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C3E50"/>
                </a:solidFill>
                <a:latin typeface="黑体" panose="02010609060101010101" charset="-122"/>
              </a:rPr>
              <a:t>消融实验 (Val + Test)  —  K 值 · Pooling · Loss · 参数量</a:t>
            </a:r>
            <a:endParaRPr sz="1200">
              <a:solidFill>
                <a:srgbClr val="2C3E50"/>
              </a:solidFill>
              <a:latin typeface="黑体" panose="02010609060101010101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051560" y="4480560"/>
            <a:ext cx="292608" cy="29260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 panose="020B0604020202020204"/>
              </a:rPr>
              <a:t>7</a:t>
            </a:r>
            <a:endParaRPr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00200" y="4498848"/>
            <a:ext cx="6583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C3E50"/>
                </a:solidFill>
                <a:latin typeface="黑体" panose="02010609060101010101" charset="-122"/>
              </a:rPr>
              <a:t>各类别 F1 分析  —  Per-Class Precision / Recall / F1</a:t>
            </a:r>
            <a:endParaRPr sz="1200">
              <a:solidFill>
                <a:srgbClr val="2C3E50"/>
              </a:solidFill>
              <a:latin typeface="黑体" panose="02010609060101010101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051560" y="4937760"/>
            <a:ext cx="292608" cy="29260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 panose="020B0604020202020204"/>
              </a:rPr>
              <a:t>8</a:t>
            </a:r>
            <a:endParaRPr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00200" y="4956048"/>
            <a:ext cx="6583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C3E50"/>
                </a:solidFill>
                <a:latin typeface="黑体" panose="02010609060101010101" charset="-122"/>
              </a:rPr>
              <a:t>训练曲线 &amp; 模型效率  —  训练收敛 · 参数效率对比</a:t>
            </a:r>
            <a:endParaRPr sz="1200">
              <a:solidFill>
                <a:srgbClr val="2C3E50"/>
              </a:solidFill>
              <a:latin typeface="黑体" panose="02010609060101010101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51560" y="5394960"/>
            <a:ext cx="292608" cy="29260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 panose="020B0604020202020204"/>
              </a:rPr>
              <a:t>9</a:t>
            </a:r>
            <a:endParaRPr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00200" y="5413248"/>
            <a:ext cx="6583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C3E50"/>
                </a:solidFill>
                <a:latin typeface="黑体" panose="02010609060101010101" charset="-122"/>
              </a:rPr>
              <a:t>多模型融合  —  5 模型 Ensemble</a:t>
            </a:r>
            <a:endParaRPr sz="1200">
              <a:solidFill>
                <a:srgbClr val="2C3E50"/>
              </a:solidFill>
              <a:latin typeface="黑体" panose="02010609060101010101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51560" y="5852160"/>
            <a:ext cx="292608" cy="29260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 panose="020B0604020202020204"/>
              </a:rPr>
              <a:t>10</a:t>
            </a:r>
            <a:endParaRPr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00200" y="5870448"/>
            <a:ext cx="6583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C3E50"/>
                </a:solidFill>
                <a:latin typeface="黑体" panose="02010609060101010101" charset="-122"/>
              </a:rPr>
              <a:t>实验结果与 SOTA 对比  —  EmoBox 基准 · Test 指标汇总</a:t>
            </a:r>
            <a:endParaRPr sz="1200">
              <a:solidFill>
                <a:srgbClr val="2C3E50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C3E50"/>
                </a:solidFill>
                <a:latin typeface="黑体" panose="02010609060101010101" charset="-122"/>
              </a:rPr>
              <a:t>03</a:t>
            </a:r>
            <a:endParaRPr sz="4000" b="1">
              <a:solidFill>
                <a:srgbClr val="2C3E50"/>
              </a:solidFill>
              <a:latin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86C1"/>
                </a:solidFill>
                <a:latin typeface="Arial" panose="020B0604020202020204"/>
              </a:rPr>
              <a:t>BACKGROUND &amp; MOTIVATION</a:t>
            </a:r>
            <a:endParaRPr sz="2800" b="1">
              <a:solidFill>
                <a:srgbClr val="2E86C1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7F8C8D"/>
                </a:solidFill>
                <a:latin typeface="Arial" panose="020B0604020202020204"/>
              </a:rPr>
              <a:t>语音情感识别的挑战与研究动机</a:t>
            </a:r>
            <a:endParaRPr sz="1400" i="1">
              <a:solidFill>
                <a:srgbClr val="7F8C8D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182880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457200" y="1828800"/>
            <a:ext cx="402336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黑体" panose="02010609060101010101" charset="-122"/>
              </a:rPr>
              <a:t>为什么要做语音情感识别？</a:t>
            </a:r>
            <a:endParaRPr sz="14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640080" y="2240280"/>
            <a:ext cx="3657600" cy="1588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4495E"/>
                </a:solidFill>
                <a:latin typeface="黑体" panose="02010609060101010101" charset="-122"/>
              </a:rPr>
              <a:t>▸ 心理健康监测：从语音中识别抑郁、焦虑信号</a:t>
            </a:r>
            <a:endParaRPr sz="14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4495E"/>
                </a:solidFill>
                <a:latin typeface="黑体" panose="02010609060101010101" charset="-122"/>
              </a:rPr>
              <a:t>▸ 智能客服：实时分析用户满意度</a:t>
            </a:r>
            <a:endParaRPr sz="14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4495E"/>
                </a:solidFill>
                <a:latin typeface="黑体" panose="02010609060101010101" charset="-122"/>
              </a:rPr>
              <a:t>▸ 人机交互：让机器理解人的情绪状态</a:t>
            </a:r>
            <a:endParaRPr sz="14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4495E"/>
                </a:solidFill>
                <a:latin typeface="黑体" panose="02010609060101010101" charset="-122"/>
              </a:rPr>
              <a:t>▸ 车载系统：驾驶员情绪状态监测</a:t>
            </a:r>
            <a:endParaRPr sz="14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4495E"/>
                </a:solidFill>
                <a:latin typeface="黑体" panose="02010609060101010101" charset="-122"/>
              </a:rPr>
              <a:t>▸ 教育辅助：识别学习者的参与度和困惑</a:t>
            </a:r>
            <a:endParaRPr sz="1400">
              <a:solidFill>
                <a:srgbClr val="34495E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4"/>
            </p:custDataLst>
          </p:nvPr>
        </p:nvSpPr>
        <p:spPr>
          <a:xfrm>
            <a:off x="4754880" y="1828800"/>
            <a:ext cx="402336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493776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黑体" panose="02010609060101010101" charset="-122"/>
              </a:rPr>
              <a:t>核心挑战</a:t>
            </a:r>
            <a:endParaRPr sz="14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4937760" y="2240280"/>
            <a:ext cx="3657600" cy="1373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4495E"/>
                </a:solidFill>
                <a:latin typeface="黑体" panose="02010609060101010101" charset="-122"/>
              </a:rPr>
              <a:t>▸ 情绪不是某一帧决定的 — 语速、停顿、</a:t>
            </a:r>
            <a:endParaRPr sz="14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4495E"/>
                </a:solidFill>
                <a:latin typeface="黑体" panose="02010609060101010101" charset="-122"/>
              </a:rPr>
              <a:t>▸ 　　音高变化、能量起伏共同形成情绪</a:t>
            </a:r>
            <a:endParaRPr sz="14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4495E"/>
                </a:solidFill>
                <a:latin typeface="黑体" panose="02010609060101010101" charset="-122"/>
              </a:rPr>
              <a:t>▸ 传统方法：均值池化 → 丢失时序动态</a:t>
            </a:r>
            <a:endParaRPr sz="14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4495E"/>
                </a:solidFill>
                <a:latin typeface="黑体" panose="02010609060101010101" charset="-122"/>
              </a:rPr>
              <a:t>▸ 问题：能否让模型像人一样，「反复阅读」</a:t>
            </a:r>
            <a:endParaRPr sz="14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4495E"/>
                </a:solidFill>
                <a:latin typeface="黑体" panose="02010609060101010101" charset="-122"/>
              </a:rPr>
              <a:t>▸ 　　语音帧，逐步提炼情绪理解？</a:t>
            </a:r>
            <a:endParaRPr sz="1400">
              <a:solidFill>
                <a:srgbClr val="34495E"/>
              </a:solidFill>
              <a:latin typeface="黑体" panose="0201060906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" y="4754880"/>
            <a:ext cx="8321040" cy="731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828032"/>
            <a:ext cx="80467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922B21"/>
                </a:solidFill>
                <a:latin typeface="黑体" panose="02010609060101010101" charset="-122"/>
              </a:rPr>
              <a:t>核心假设：时序推理能力是 SER 性能提升的关键瓶颈</a:t>
            </a:r>
            <a:endParaRPr b="1">
              <a:solidFill>
                <a:srgbClr val="922B21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C3E50"/>
                </a:solidFill>
                <a:latin typeface="黑体" panose="02010609060101010101" charset="-122"/>
              </a:rPr>
              <a:t>04</a:t>
            </a:r>
            <a:endParaRPr sz="4000" b="1">
              <a:solidFill>
                <a:srgbClr val="2C3E50"/>
              </a:solidFill>
              <a:latin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86C1"/>
                </a:solidFill>
                <a:latin typeface="Arial" panose="020B0604020202020204"/>
              </a:rPr>
              <a:t>DATASET &amp; TASK</a:t>
            </a:r>
            <a:endParaRPr sz="2800" b="1">
              <a:solidFill>
                <a:srgbClr val="2E86C1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7F8C8D"/>
                </a:solidFill>
                <a:latin typeface="Arial" panose="020B0604020202020204"/>
              </a:rPr>
              <a:t>CREMA-D 数据集 · 六分类情绪识别</a:t>
            </a:r>
            <a:endParaRPr sz="1400" i="1">
              <a:solidFill>
                <a:srgbClr val="7F8C8D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182880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402336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黑体" panose="02010609060101010101" charset="-122"/>
              </a:rPr>
              <a:t>CREMA-D 数据集概览</a:t>
            </a:r>
            <a:endParaRPr sz="14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657600" cy="1588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4495E"/>
                </a:solidFill>
                <a:latin typeface="黑体" panose="02010609060101010101" charset="-122"/>
              </a:rPr>
              <a:t>▸ 7,442 条音频 · 91 位演员 · 12 句台词</a:t>
            </a:r>
            <a:endParaRPr sz="14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4495E"/>
                </a:solidFill>
                <a:latin typeface="黑体" panose="02010609060101010101" charset="-122"/>
              </a:rPr>
              <a:t>▸ 6 种情绪：angry, disgust, fear,</a:t>
            </a:r>
            <a:endParaRPr sz="14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4495E"/>
                </a:solidFill>
                <a:latin typeface="黑体" panose="02010609060101010101" charset="-122"/>
              </a:rPr>
              <a:t>▸ 　　 happy, neutral, sad</a:t>
            </a:r>
            <a:endParaRPr sz="14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4495E"/>
                </a:solidFill>
                <a:latin typeface="黑体" panose="02010609060101010101" charset="-122"/>
              </a:rPr>
              <a:t>▸ 多模态：音频 + 视频 + 众包标注</a:t>
            </a:r>
            <a:endParaRPr sz="14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4495E"/>
                </a:solidFill>
                <a:latin typeface="黑体" panose="02010609060101010101" charset="-122"/>
              </a:rPr>
              <a:t>▸ 采样率：16kHz · 时长：3 秒固定</a:t>
            </a:r>
            <a:endParaRPr sz="1400">
              <a:solidFill>
                <a:srgbClr val="34495E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54880" y="1828800"/>
            <a:ext cx="4023360" cy="2743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90195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498DB"/>
                </a:solidFill>
                <a:latin typeface="黑体" panose="02010609060101010101" charset="-122"/>
              </a:rPr>
              <a:t>数据划分（说话人独立）</a:t>
            </a:r>
            <a:endParaRPr sz="13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892040" y="2240280"/>
          <a:ext cx="37490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80"/>
                <a:gridCol w="1249680"/>
                <a:gridCol w="12496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集合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样本数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占比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训练集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5,147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69.2%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验证集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1,148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15.4%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测试集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1,147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15.4%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5029200"/>
            <a:ext cx="832104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102352"/>
            <a:ext cx="7955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498DB"/>
                </a:solidFill>
                <a:latin typeface="黑体" panose="02010609060101010101" charset="-122"/>
              </a:rPr>
              <a:t>六类情绪（每类样本数 ≈ 980 / 196 / 196）</a:t>
            </a:r>
            <a:endParaRPr sz="13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4360" y="5440680"/>
          <a:ext cx="804672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/>
                <a:gridCol w="1341120"/>
                <a:gridCol w="1341120"/>
                <a:gridCol w="1341120"/>
                <a:gridCol w="1341120"/>
                <a:gridCol w="13411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angry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disgust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fear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happy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neutral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sad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879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879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879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879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752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879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ChatGPT Image 2026年6月11日 17_23_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9115"/>
            <a:ext cx="9144000" cy="57804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C3E50"/>
                </a:solidFill>
                <a:latin typeface="黑体" panose="02010609060101010101" charset="-122"/>
              </a:rPr>
              <a:t>05</a:t>
            </a:r>
            <a:endParaRPr sz="4000" b="1">
              <a:solidFill>
                <a:srgbClr val="2C3E50"/>
              </a:solidFill>
              <a:latin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86C1"/>
                </a:solidFill>
                <a:latin typeface="Arial" panose="020B0604020202020204"/>
              </a:rPr>
              <a:t>BASELINE SYSTEM</a:t>
            </a:r>
            <a:endParaRPr sz="2800" b="1">
              <a:solidFill>
                <a:srgbClr val="2E86C1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7F8C8D"/>
                </a:solidFill>
                <a:latin typeface="Arial" panose="020B0604020202020204"/>
              </a:rPr>
              <a:t>WavLM-base + Attention Pooling · 渐进解冻 · Focal Loss</a:t>
            </a:r>
            <a:endParaRPr sz="1400" i="1">
              <a:solidFill>
                <a:srgbClr val="7F8C8D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182880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457200" y="1828800"/>
            <a:ext cx="402336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黑体" panose="02010609060101010101" charset="-122"/>
              </a:rPr>
              <a:t>上游：WavLM-base</a:t>
            </a:r>
            <a:endParaRPr sz="14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640080" y="2240280"/>
            <a:ext cx="3657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预训练：94,000h 未标注语音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输出：768 维帧级特征 (~20ms/帧)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12 层 Transformer Encoder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features = WavLM(waveform) ∈ R^{T×768}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4"/>
            </p:custDataLst>
          </p:nvPr>
        </p:nvSpPr>
        <p:spPr>
          <a:xfrm>
            <a:off x="4754880" y="1828800"/>
            <a:ext cx="402336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493776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黑体" panose="02010609060101010101" charset="-122"/>
              </a:rPr>
              <a:t>中游 + 下游</a:t>
            </a:r>
            <a:endParaRPr sz="14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4937760" y="2240280"/>
            <a:ext cx="3657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Attention Pooling：自动学习帧权重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softmax(Linear(Tanh(Linear(h)))) → weights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下游：LayerNorm + GELU + Dropout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768 → 512 → 256 → 6 classes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7"/>
            </p:custDataLst>
          </p:nvPr>
        </p:nvSpPr>
        <p:spPr>
          <a:xfrm>
            <a:off x="457200" y="3931920"/>
            <a:ext cx="402336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640080" y="4023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黑体" panose="02010609060101010101" charset="-122"/>
              </a:rPr>
              <a:t>训练策略</a:t>
            </a:r>
            <a:endParaRPr sz="14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640080" y="434340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渐进解冻：1-3 head | 4-7 top4 | 8+ all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Focal Loss (γ=2) + Strong Augmentation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Mixup (α=0.2) · AdamW · ReduceLROnPlateau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</p:txBody>
      </p:sp>
      <p:sp>
        <p:nvSpPr>
          <p:cNvPr id="15" name="Rounded Rectangle 14"/>
          <p:cNvSpPr/>
          <p:nvPr>
            <p:custDataLst>
              <p:tags r:id="rId10"/>
            </p:custDataLst>
          </p:nvPr>
        </p:nvSpPr>
        <p:spPr>
          <a:xfrm>
            <a:off x="4754880" y="3931920"/>
            <a:ext cx="402336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4937760" y="4023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黑体" panose="02010609060101010101" charset="-122"/>
              </a:rPr>
              <a:t>多骨架对比 (val)</a:t>
            </a:r>
            <a:endParaRPr sz="14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4937760" y="434340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wav2vec2-base: 74.65%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huBERT-base: 71.43%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wavLM-base (最佳): 74.91% ← baseline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5577840"/>
            <a:ext cx="228600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65099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8445"/>
                </a:solidFill>
                <a:latin typeface="黑体" panose="02010609060101010101" charset="-122"/>
              </a:rPr>
              <a:t>Val: 74.91%</a:t>
            </a:r>
            <a:endParaRPr sz="1300" b="1">
              <a:solidFill>
                <a:srgbClr val="1E8445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C3E50"/>
                </a:solidFill>
                <a:latin typeface="黑体" panose="02010609060101010101" charset="-122"/>
              </a:rPr>
              <a:t>06</a:t>
            </a:r>
            <a:endParaRPr sz="4000" b="1">
              <a:solidFill>
                <a:srgbClr val="2C3E50"/>
              </a:solidFill>
              <a:latin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86C1"/>
                </a:solidFill>
                <a:latin typeface="Arial" panose="020B0604020202020204"/>
              </a:rPr>
              <a:t>EMOTION-CTM BLOCK</a:t>
            </a:r>
            <a:endParaRPr sz="2800" b="1">
              <a:solidFill>
                <a:srgbClr val="2E86C1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7F8C8D"/>
                </a:solidFill>
                <a:latin typeface="Arial" panose="020B0604020202020204"/>
              </a:rPr>
              <a:t>K 步迭代交叉注意力 · 神经元同步表征 · 加权池化</a:t>
            </a:r>
            <a:endParaRPr sz="1400" i="1">
              <a:solidFill>
                <a:srgbClr val="7F8C8D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182880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402336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黑体" panose="02010609060101010101" charset="-122"/>
              </a:rPr>
              <a:t>CTM Block 内部流程 (K=4)</a:t>
            </a:r>
            <a:endParaRPr sz="14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6576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① Adapter: D=768 → d=256 维度压缩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② 初始情绪 query = 可学习参数 [1, 256]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③ For k = 1..K: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   a. CrossAttn(query_k, frames)  获取关键帧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   b. FFN(query_k)                 精炼状态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   c. sync_k = cos_sim(query_k, frames)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④ Attn Pooling = Σ softmax(sync_K) ⊙ frames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⑤ Classifier: 256 → 128 → 6 logits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54880" y="1828800"/>
            <a:ext cx="402336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黑体" panose="02010609060101010101" charset="-122"/>
              </a:rPr>
              <a:t>CTM 的设计动机</a:t>
            </a:r>
            <a:endParaRPr sz="14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37760" y="2240280"/>
            <a:ext cx="3657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NeurIPS 2025 CTM: 内部思考节拍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引入 internal temporal axis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不同于 Transformer 的「前馈秒答」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多步推理 → 逐步精炼情绪理解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54880" y="3931920"/>
            <a:ext cx="402336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4023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黑体" panose="02010609060101010101" charset="-122"/>
              </a:rPr>
              <a:t>与已有工作的关系</a:t>
            </a:r>
            <a:endParaRPr sz="14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37760" y="4343400"/>
            <a:ext cx="3657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MSTR (2024): 多尺度时序 Transformer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Temporal Shift (2024): Channel-wise shift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MLL (2025): CE+Focal+Center+SupCon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本文: CTM-inspired iterative reasoning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　　+ SupCon contrastive learning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C3E50"/>
                </a:solidFill>
                <a:latin typeface="黑体" panose="02010609060101010101" charset="-122"/>
              </a:rPr>
              <a:t>07</a:t>
            </a:r>
            <a:endParaRPr sz="4000" b="1">
              <a:solidFill>
                <a:srgbClr val="2C3E50"/>
              </a:solidFill>
              <a:latin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86C1"/>
                </a:solidFill>
                <a:latin typeface="Arial" panose="020B0604020202020204"/>
              </a:rPr>
              <a:t>CONTRASTIVE LEARNING</a:t>
            </a:r>
            <a:endParaRPr sz="2800" b="1">
              <a:solidFill>
                <a:srgbClr val="2E86C1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7F8C8D"/>
                </a:solidFill>
                <a:latin typeface="Arial" panose="020B0604020202020204"/>
              </a:rPr>
              <a:t>SupCon Loss · Center Loss · 多损失联合优化</a:t>
            </a:r>
            <a:endParaRPr sz="1400" i="1">
              <a:solidFill>
                <a:srgbClr val="7F8C8D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182880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402336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黑体" panose="02010609060101010101" charset="-122"/>
              </a:rPr>
              <a:t>SupCon Loss（Khosla 2020 / MLL 2025）</a:t>
            </a:r>
            <a:endParaRPr sz="14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657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同类样本在特征空间中靠近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异类样本在特征空间中远离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温度系数 τ = 0.07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应用于 CTM 输出的 pooled 特征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已验证：MLL 2025 在 IEMOCAP 上 +2.5%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54880" y="1828800"/>
            <a:ext cx="402336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黑体" panose="02010609060101010101" charset="-122"/>
              </a:rPr>
              <a:t>Center Loss（Wen ECCV 2016）</a:t>
            </a:r>
            <a:endParaRPr sz="14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37760" y="2240280"/>
            <a:ext cx="3657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每个类维持一个可学习的中心向量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同类特征向中心收紧 → 类内紧凑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与 SupCon 互补：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　　 SupCon → 类间分离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　　 Center → 类内紧凑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832104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7955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黑体" panose="02010609060101010101" charset="-122"/>
              </a:rPr>
              <a:t>总体损失函数: L = CE + 0.1×SupCon + 0.1×Center</a:t>
            </a:r>
            <a:endParaRPr sz="14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7955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CE: CrossEntropy (带类别权重 sad/disgust=1.15, neutral=1.10)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SupCon: 同类拉近、异类推远，只作用于 pooled 特征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Center: 可学习类中心 + L2 距离最小化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三者联合优化，同时优化分类精度和特征空间结构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C3E50"/>
                </a:solidFill>
                <a:latin typeface="黑体" panose="02010609060101010101" charset="-122"/>
              </a:rPr>
              <a:t>08</a:t>
            </a:r>
            <a:endParaRPr sz="4000" b="1">
              <a:solidFill>
                <a:srgbClr val="2C3E50"/>
              </a:solidFill>
              <a:latin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C3E50"/>
                </a:solidFill>
                <a:latin typeface="Arial" panose="020B0604020202020204"/>
              </a:rPr>
              <a:t>ABLATION STUDY</a:t>
            </a:r>
            <a:endParaRPr sz="2800" b="1">
              <a:solidFill>
                <a:srgbClr val="2C3E50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7F8C8D"/>
                </a:solidFill>
                <a:latin typeface="Arial" panose="020B0604020202020204"/>
              </a:rPr>
              <a:t>K 值消融 · Pooling 消融 · Loss 消融</a:t>
            </a:r>
            <a:endParaRPr sz="1400" i="1">
              <a:solidFill>
                <a:srgbClr val="7F8C8D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18288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8321040" cy="4434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01952"/>
            <a:ext cx="7955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498DB"/>
                </a:solidFill>
                <a:latin typeface="黑体" panose="02010609060101010101" charset="-122"/>
              </a:rPr>
              <a:t>完整消融实验汇总（Val + Test 双指标）</a:t>
            </a:r>
            <a:endParaRPr sz="13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2240280"/>
          <a:ext cx="8046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模型配置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Val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Test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Δ Val→Test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参数量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WavLM + Mean Pooling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73.00%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69.83%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-3.17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95.2M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WavLM + Attn Pooling (Baseline)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74.</a:t>
                      </a:r>
                      <a:r>
                        <a:rPr lang="en-US"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56</a:t>
                      </a: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68.79</a:t>
                      </a: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lang="en-US"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-5.77</a:t>
                      </a:r>
                      <a:endParaRPr lang="en-US"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95.2M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WavLM + CTM K=1 (SupCon 0.01)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72.74%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68.09%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-4.65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95.8M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WavLM + CTM K=2 (SupCon 0.1)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73.61%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68.70%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-4.91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95.8M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WavLM + CTM K=4 (SupCon 0.1)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74.56%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72.89%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-1.67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95.8M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lang="en-US" sz="1000" b="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WavLM + CTMv2 N=8,K=4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lang="en-US" sz="1000" b="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74.22%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lang="en-US" sz="1000" b="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73.06%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lang="en-US" sz="1000" b="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-1.16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lang="en-US" sz="1000" b="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95.9M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WavLM + CTM K=4 + Center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73.95%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71.14%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-2.81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95.8M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WavLM + MoE (Conv Experts)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72.56%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70.62%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-1.94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100.4M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HuBERT + Attn Pooling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71.43%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70.01%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-1.42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95.2M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989320"/>
            <a:ext cx="8321040" cy="548640"/>
          </a:xfrm>
          <a:prstGeom prst="roundRect">
            <a:avLst/>
          </a:prstGeom>
          <a:solidFill>
            <a:srgbClr val="E8F8F0"/>
          </a:solidFill>
          <a:ln w="19050">
            <a:solidFill>
              <a:srgbClr val="1E8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053328"/>
            <a:ext cx="804672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8445"/>
                </a:solidFill>
                <a:latin typeface="黑体" panose="02010609060101010101" charset="-122"/>
              </a:rPr>
              <a:t>* Baseline 74.</a:t>
            </a:r>
            <a:r>
              <a:rPr lang="en-US" sz="1300" b="1">
                <a:solidFill>
                  <a:srgbClr val="1E8445"/>
                </a:solidFill>
                <a:latin typeface="黑体" panose="02010609060101010101" charset="-122"/>
              </a:rPr>
              <a:t>56</a:t>
            </a:r>
            <a:r>
              <a:rPr sz="1300" b="1">
                <a:solidFill>
                  <a:srgbClr val="1E8445"/>
                </a:solidFill>
                <a:latin typeface="黑体" panose="02010609060101010101" charset="-122"/>
              </a:rPr>
              <a:t>% 为历史最佳 Val   |  CTM K=4 双指标最优: Val=74.56% Test=72.89%  |  Δ Val→Test 仅 1.67pp</a:t>
            </a:r>
            <a:endParaRPr sz="1300" b="1">
              <a:solidFill>
                <a:srgbClr val="1E8445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C3E50"/>
                </a:solidFill>
                <a:latin typeface="黑体" panose="02010609060101010101" charset="-122"/>
              </a:rPr>
              <a:t>09</a:t>
            </a:r>
            <a:endParaRPr sz="4000" b="1">
              <a:solidFill>
                <a:srgbClr val="2C3E50"/>
              </a:solidFill>
              <a:latin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C3E50"/>
                </a:solidFill>
                <a:latin typeface="Arial" panose="020B0604020202020204"/>
              </a:rPr>
              <a:t>PER-CLASS ANALYSIS</a:t>
            </a:r>
            <a:endParaRPr sz="2800" b="1">
              <a:solidFill>
                <a:srgbClr val="2C3E50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7F8C8D"/>
                </a:solidFill>
                <a:latin typeface="Arial" panose="020B0604020202020204"/>
              </a:rPr>
              <a:t>Test 集各类别 F1 Score 对比 · 最优模型 CTM K=4</a:t>
            </a:r>
            <a:endParaRPr sz="1400" i="1">
              <a:solidFill>
                <a:srgbClr val="7F8C8D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18288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7955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498DB"/>
                </a:solidFill>
                <a:latin typeface="黑体" panose="02010609060101010101" charset="-122"/>
              </a:rPr>
              <a:t>CTM K=4 各类别指标 (Test Acc = 72.89%)</a:t>
            </a:r>
            <a:endParaRPr sz="13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2103120"/>
          <a:ext cx="80467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类别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Precision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Recall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F1 Score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样本数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angry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62.9%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90.8%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74.3%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196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disgust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84.5%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61.2%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71.0%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196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fear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68.2%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77.6%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72.6%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196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happy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82.0%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69.9%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75.5%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196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neutral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73.8%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86.2%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79.6%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167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sad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76.6%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53.6%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63.1%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196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572000"/>
            <a:ext cx="7955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498DB"/>
                </a:solidFill>
                <a:latin typeface="黑体" panose="02010609060101010101" charset="-122"/>
              </a:rPr>
              <a:t>各模型各类别 F1 对比 (Test)</a:t>
            </a:r>
            <a:endParaRPr sz="13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4846320"/>
          <a:ext cx="80467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531"/>
                <a:gridCol w="1149531"/>
                <a:gridCol w="1149531"/>
                <a:gridCol w="1149531"/>
                <a:gridCol w="1149531"/>
                <a:gridCol w="1149531"/>
                <a:gridCol w="1149534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模型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angry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disgust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fear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happy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neutral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sad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Mean Pooling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73.4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67.7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69.0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73.3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79.2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52.0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CTM K=1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70.9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65.3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69.8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75.0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75.7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46.9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CTM K=2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72.6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65.3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71.0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75.1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70.7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55.9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CTM K=4 (最优)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74.3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71.0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72.6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75.5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79.6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63.1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MoE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74.1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69.9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70.6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74.4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76.6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54.4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C3E50"/>
                </a:solidFill>
                <a:latin typeface="黑体" panose="02010609060101010101" charset="-122"/>
              </a:rPr>
              <a:t>10</a:t>
            </a:r>
            <a:endParaRPr sz="4000" b="1">
              <a:solidFill>
                <a:srgbClr val="2C3E50"/>
              </a:solidFill>
              <a:latin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86C1"/>
                </a:solidFill>
                <a:latin typeface="Arial" panose="020B0604020202020204"/>
              </a:rPr>
              <a:t>MODEL ENSEMBLE</a:t>
            </a:r>
            <a:endParaRPr sz="2800" b="1">
              <a:solidFill>
                <a:srgbClr val="2E86C1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7F8C8D"/>
                </a:solidFill>
                <a:latin typeface="Arial" panose="020B0604020202020204"/>
              </a:rPr>
              <a:t>多模型概率融合 · 提升泛化与鲁棒性</a:t>
            </a:r>
            <a:endParaRPr sz="1400" i="1">
              <a:solidFill>
                <a:srgbClr val="7F8C8D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182880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402336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黑体" panose="02010609060101010101" charset="-122"/>
              </a:rPr>
              <a:t>融合策略</a:t>
            </a:r>
            <a:endParaRPr sz="14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657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5 个模型均等权重概率融合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p_final = Σ(1/5 × p_i)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所有模型使用相同训练配置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不同 backbone 提供互补信息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54880" y="1828800"/>
            <a:ext cx="402336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黑体" panose="02010609060101010101" charset="-122"/>
              </a:rPr>
              <a:t>融合模型列表</a:t>
            </a:r>
            <a:endParaRPr sz="14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37760" y="2240280"/>
            <a:ext cx="3657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① wav2vec2-base: 74.65%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② wav2vec2-improved: 73.08%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③ huBERT-base: 71.43%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④ WavLM-base: 74.04%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⑤ WavLM-base + CTM K=4: 74.56%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4462272"/>
            <a:ext cx="7955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498DB"/>
                </a:solidFill>
                <a:latin typeface="黑体" panose="02010609060101010101" charset="-122"/>
              </a:rPr>
              <a:t>融合效果对比（单模型 vs Ensemble）</a:t>
            </a:r>
            <a:endParaRPr sz="13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4360" y="4800600"/>
          <a:ext cx="80467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配置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Val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Test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4 模型 Ensemble (无 CTM)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76.66%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74.89%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5 模型 Ensemble (含 CTM)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75.52%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75.85%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CTM K=4 单模型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74.56%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72.89%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Attn Pooling 单模型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74.91%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—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C3E50"/>
                </a:solidFill>
                <a:latin typeface="黑体" panose="02010609060101010101" charset="-122"/>
              </a:rPr>
              <a:t>11</a:t>
            </a:r>
            <a:endParaRPr sz="4000" b="1">
              <a:solidFill>
                <a:srgbClr val="2C3E50"/>
              </a:solidFill>
              <a:latin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C3E50"/>
                </a:solidFill>
                <a:latin typeface="Arial" panose="020B0604020202020204"/>
              </a:rPr>
              <a:t>TRAINING &amp; EFFICIENCY</a:t>
            </a:r>
            <a:endParaRPr sz="2800" b="1">
              <a:solidFill>
                <a:srgbClr val="2C3E50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7F8C8D"/>
                </a:solidFill>
                <a:latin typeface="Arial" panose="020B0604020202020204"/>
              </a:rPr>
              <a:t>训练曲线对比 · 参数量统计</a:t>
            </a:r>
            <a:endParaRPr sz="1400" i="1">
              <a:solidFill>
                <a:srgbClr val="7F8C8D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18288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aining_curv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91640"/>
            <a:ext cx="448056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74920" y="1691640"/>
            <a:ext cx="379476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764792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498DB"/>
                </a:solidFill>
                <a:latin typeface="黑体" panose="02010609060101010101" charset="-122"/>
              </a:rPr>
              <a:t>模型参数量对比</a:t>
            </a:r>
            <a:endParaRPr sz="13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166360" y="2103120"/>
          <a:ext cx="35661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模型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总参数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Head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WavLM (Attn/Mean)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95.2M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0.82M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WavLM (CTM)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95.8M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1.42M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WavLM (MoE)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100.4M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6.01M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HuBERT (Attn)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95.2M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0.82M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74920" y="4206240"/>
            <a:ext cx="3794760" cy="187451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42793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黑体" panose="02010609060101010101" charset="-122"/>
              </a:rPr>
              <a:t>关键发现</a:t>
            </a:r>
            <a:endParaRPr sz="14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12080" y="4617720"/>
            <a:ext cx="3520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所有模型 backbone ~94.4M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CTM head 仅增 0.6M (0.6%)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MoE head 增 ~5.2M (5.5%)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CTM 参数效率最高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C3E50"/>
                </a:solidFill>
                <a:latin typeface="黑体" panose="02010609060101010101" charset="-122"/>
              </a:rPr>
              <a:t>12</a:t>
            </a:r>
            <a:endParaRPr sz="4000" b="1">
              <a:solidFill>
                <a:srgbClr val="2C3E50"/>
              </a:solidFill>
              <a:latin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86C1"/>
                </a:solidFill>
                <a:latin typeface="Arial" panose="020B0604020202020204"/>
              </a:rPr>
              <a:t>SOTA COMPARISON</a:t>
            </a:r>
            <a:endParaRPr sz="2800" b="1">
              <a:solidFill>
                <a:srgbClr val="2E86C1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7F8C8D"/>
                </a:solidFill>
                <a:latin typeface="Arial" panose="020B0604020202020204"/>
              </a:rPr>
              <a:t>与 EmoBox 基准 (Interspeech 2024) 对比 · CREMA-D (含 Test 结果)</a:t>
            </a:r>
            <a:endParaRPr sz="1400" i="1">
              <a:solidFill>
                <a:srgbClr val="7F8C8D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182880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402336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黑体" panose="02010609060101010101" charset="-122"/>
              </a:rPr>
              <a:t>EmoBox 基准（公平对比，说话人独立）</a:t>
            </a:r>
            <a:endParaRPr sz="14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657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Whisper large v3: 76.48% (1.5B 参数)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WavLM large: 74.32% (317M)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HuBERT large: 73.64% (317M)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WavLM base: 69.49% (95M)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54880" y="1828800"/>
            <a:ext cx="402336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黑体" panose="02010609060101010101" charset="-122"/>
              </a:rPr>
              <a:t>我们的结果 (WavLM-base, 95M)</a:t>
            </a:r>
            <a:endParaRPr sz="14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37760" y="2240280"/>
            <a:ext cx="3657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Attn Pooling (Baseline) Val: 74.91%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CTM K=4 Test: 72.89%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5 模型 Ensemble Test: 75.85%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Test 集 ≈ WavLM large 139M 水平 → base 达 large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8321040" cy="731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005072"/>
            <a:ext cx="804672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8445"/>
                </a:solidFill>
                <a:latin typeface="黑体" panose="02010609060101010101" charset="-122"/>
              </a:rPr>
              <a:t>在 95M 参数量下，CTM K=4 Test=72.89%, Ensemble Test=75.85%，≈ WavLM-large 水平，融合后超过 EmoBox 所有 baseline 记录</a:t>
            </a:r>
            <a:endParaRPr sz="1300" b="1">
              <a:solidFill>
                <a:srgbClr val="1E8445"/>
              </a:solidFill>
              <a:latin typeface="黑体" panose="0201060906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57200" y="4937760"/>
            <a:ext cx="832104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7955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黑体" panose="02010609060101010101" charset="-122"/>
              </a:rPr>
              <a:t>需要说明的差异</a:t>
            </a:r>
            <a:endParaRPr sz="14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5349240"/>
            <a:ext cx="7955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EmoBox 使用简单的 mean pooling + 单层 Linear 分类头，而我们的 baseline 已有 Attention Pooling + 两层 MLP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不同研究间数据集划分方法可能不同（但我们都遵循 speaker-independent 原则）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Whisper large v3 参数量是我们的 15 倍以上，不构成公平对比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0" y="1437640"/>
            <a:ext cx="4285615" cy="17221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3354070"/>
            <a:ext cx="5297170" cy="19513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045" y="3618865"/>
            <a:ext cx="3505835" cy="16122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3640" y="1478280"/>
            <a:ext cx="4150360" cy="1915795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1371600" y="469265"/>
            <a:ext cx="406781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>
                <a:solidFill>
                  <a:srgbClr val="2E86C1"/>
                </a:solidFill>
                <a:latin typeface="Arial" panose="020B0604020202020204"/>
              </a:rPr>
              <a:t>METRIC</a:t>
            </a:r>
            <a:r>
              <a:rPr sz="2800" b="1">
                <a:solidFill>
                  <a:srgbClr val="2E86C1"/>
                </a:solidFill>
                <a:latin typeface="Arial" panose="020B0604020202020204"/>
              </a:rPr>
              <a:t> COMPARISON</a:t>
            </a:r>
            <a:endParaRPr sz="2800" b="1">
              <a:solidFill>
                <a:srgbClr val="2E86C1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86715" y="5764530"/>
            <a:ext cx="8321040" cy="548640"/>
          </a:xfrm>
          <a:prstGeom prst="roundRect">
            <a:avLst/>
          </a:prstGeom>
          <a:solidFill>
            <a:srgbClr val="E8F8F0"/>
          </a:solidFill>
          <a:ln w="19050">
            <a:solidFill>
              <a:srgbClr val="1E8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CTM </a:t>
            </a:r>
            <a:r>
              <a:rPr lang="zh-CN" altLang="en-US" sz="1400">
                <a:solidFill>
                  <a:schemeClr val="tx1"/>
                </a:solidFill>
              </a:rPr>
              <a:t>迭代推理有效: </a:t>
            </a:r>
            <a:r>
              <a:rPr lang="en-US" altLang="zh-CN" sz="1400">
                <a:solidFill>
                  <a:schemeClr val="tx1"/>
                </a:solidFill>
              </a:rPr>
              <a:t>K </a:t>
            </a:r>
            <a:r>
              <a:rPr lang="zh-CN" altLang="en-US" sz="1400">
                <a:solidFill>
                  <a:schemeClr val="tx1"/>
                </a:solidFill>
              </a:rPr>
              <a:t>值单调递增 </a:t>
            </a:r>
            <a:r>
              <a:rPr lang="en-US" altLang="zh-CN" sz="1400">
                <a:solidFill>
                  <a:schemeClr val="tx1"/>
                </a:solidFill>
              </a:rPr>
              <a:t>K=1 (68.09%) &lt; K=2 (68.70%) &lt; K=4 (72.89%)，</a:t>
            </a:r>
            <a:r>
              <a:rPr lang="zh-CN" altLang="en-US" sz="1400">
                <a:solidFill>
                  <a:schemeClr val="tx1"/>
                </a:solidFill>
              </a:rPr>
              <a:t>每一步推理都有增量价值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</a:rPr>
              <a:t>池化三级递进: </a:t>
            </a:r>
            <a:r>
              <a:rPr lang="en-US" altLang="zh-CN" sz="1400">
                <a:solidFill>
                  <a:schemeClr val="tx1"/>
                </a:solidFill>
              </a:rPr>
              <a:t>Mean Pooling (69.83%) &lt; CTM K=4 (72.89%)，Attention </a:t>
            </a:r>
            <a:r>
              <a:rPr lang="zh-CN" altLang="en-US" sz="1400">
                <a:solidFill>
                  <a:schemeClr val="tx1"/>
                </a:solidFill>
              </a:rPr>
              <a:t>和迭代交叉注意力带来明确增益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Rectangle 4"/>
          <p:cNvSpPr/>
          <p:nvPr/>
        </p:nvSpPr>
        <p:spPr>
          <a:xfrm>
            <a:off x="1501140" y="1120140"/>
            <a:ext cx="182880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C3E50"/>
                </a:solidFill>
                <a:latin typeface="黑体" panose="02010609060101010101" charset="-122"/>
              </a:rPr>
              <a:t>13</a:t>
            </a:r>
            <a:endParaRPr sz="4000" b="1">
              <a:solidFill>
                <a:srgbClr val="2C3E50"/>
              </a:solidFill>
              <a:latin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86C1"/>
                </a:solidFill>
                <a:latin typeface="Arial" panose="020B0604020202020204"/>
              </a:rPr>
              <a:t>ERROR ANALYSIS</a:t>
            </a:r>
            <a:endParaRPr sz="2800" b="1">
              <a:solidFill>
                <a:srgbClr val="2E86C1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7F8C8D"/>
                </a:solidFill>
                <a:latin typeface="Arial" panose="020B0604020202020204"/>
              </a:rPr>
              <a:t>5 模型 Ensemble 混淆矩阵 · Test 集</a:t>
            </a:r>
            <a:endParaRPr sz="1400" i="1">
              <a:solidFill>
                <a:srgbClr val="7F8C8D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182880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8321040" cy="2743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01952"/>
            <a:ext cx="7955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498DB"/>
                </a:solidFill>
                <a:latin typeface="黑体" panose="02010609060101010101" charset="-122"/>
              </a:rPr>
              <a:t>混淆矩阵: Test acc = 75.85%</a:t>
            </a:r>
            <a:endParaRPr sz="13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2240280"/>
          <a:ext cx="80467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531"/>
                <a:gridCol w="1149531"/>
                <a:gridCol w="1149531"/>
                <a:gridCol w="1149531"/>
                <a:gridCol w="1149531"/>
                <a:gridCol w="1149531"/>
                <a:gridCol w="1149534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Angry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Disgust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Fear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Happy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Neutral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Sad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2C3E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Angry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179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13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2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2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0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0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Disgust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31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140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12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2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2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9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Fear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18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8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147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3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2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18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Happy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28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6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9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142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9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2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Neutral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8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4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150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3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4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Sad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4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14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28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6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32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rPr sz="1000">
                          <a:solidFill>
                            <a:srgbClr val="2C3E50"/>
                          </a:solidFill>
                          <a:latin typeface="Arial" panose="020B0604020202020204"/>
                        </a:rPr>
                        <a:t>112</a:t>
                      </a:r>
                      <a:endParaRPr sz="1000">
                        <a:solidFill>
                          <a:srgbClr val="2C3E50"/>
                        </a:solidFill>
                        <a:latin typeface="Arial" panose="020B0604020202020204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4846320"/>
            <a:ext cx="402336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黑体" panose="02010609060101010101" charset="-122"/>
              </a:rPr>
              <a:t>最好识别的情绪</a:t>
            </a:r>
            <a:endParaRPr sz="14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5257800"/>
            <a:ext cx="3657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Angry: recall 91.3%, precision 66.8%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Disgust: recall 71.4%, precision 76.9%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Neutral: recall 89.8%, precision 76.9%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54880" y="4846320"/>
            <a:ext cx="402336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4937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黑体" panose="02010609060101010101" charset="-122"/>
              </a:rPr>
              <a:t>挑战类别</a:t>
            </a:r>
            <a:endParaRPr sz="14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37760" y="5257800"/>
            <a:ext cx="3657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Sad → Neutral (32/196, 混淆 ↑)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Sad → Fear (28/196, 同属低唤醒)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Fear → Sad (18/196, 低唤醒混淆)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95960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C3E50"/>
                </a:solidFill>
                <a:latin typeface="黑体" panose="02010609060101010101" charset="-122"/>
              </a:rPr>
              <a:t>1</a:t>
            </a:r>
            <a:r>
              <a:rPr lang="en-US" sz="4000" b="1">
                <a:solidFill>
                  <a:srgbClr val="2C3E50"/>
                </a:solidFill>
                <a:latin typeface="黑体" panose="02010609060101010101" charset="-122"/>
              </a:rPr>
              <a:t>4</a:t>
            </a:r>
            <a:endParaRPr lang="en-US" sz="4000" b="1">
              <a:solidFill>
                <a:srgbClr val="2C3E50"/>
              </a:solidFill>
              <a:latin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C3E50"/>
                </a:solidFill>
                <a:latin typeface="Arial" panose="020B0604020202020204"/>
              </a:rPr>
              <a:t>CTMv2: NLM + SYNAPSE EXTENSION</a:t>
            </a:r>
            <a:endParaRPr sz="2800" b="1">
              <a:solidFill>
                <a:srgbClr val="2C3E50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370141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7F8C8D"/>
                </a:solidFill>
                <a:latin typeface="Arial" panose="020B0604020202020204"/>
              </a:rPr>
              <a:t>引入论文 NLM·Synapse·Pairwise Sync  训练</a:t>
            </a:r>
            <a:endParaRPr sz="1400" i="1">
              <a:solidFill>
                <a:srgbClr val="7F8C8D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402336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黑体" panose="02010609060101010101" charset="-122"/>
              </a:rPr>
              <a:t>CTMv2 架构创新</a:t>
            </a:r>
            <a:endParaRPr sz="14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657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Neuron-Level Models: 8 个神经元私有参数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每个 neuron_i 独立投影: wq_i ∈ R^{d×d}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Synapse 连接: 可学习 W_syn ∈ R^{N×N}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Pairwise Sync: N×N 神经元对同步矩阵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syn_weights = softmax(tanh(sync) ⊙ W_syn)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54880" y="1828800"/>
            <a:ext cx="402336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黑体" panose="02010609060101010101" charset="-122"/>
              </a:rPr>
              <a:t>CTMv2 vs CTM v1 对比</a:t>
            </a:r>
            <a:endParaRPr sz="14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37760" y="2240280"/>
            <a:ext cx="3657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v1: 1 个 query, 单步 cross-attn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v2: 8 个神经元, 独立视角 attend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v2: NLM 私有参数 + Synapse 通信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v2: Pairwise Sync 作为额外表征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v2: 0 NaN (v1 曾有 12/25 epoch NaN)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4180" y="4389120"/>
            <a:ext cx="8354060" cy="22504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62272"/>
            <a:ext cx="7955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498DB"/>
                </a:solidFill>
                <a:latin typeface="黑体" panose="02010609060101010101" charset="-122"/>
              </a:rPr>
              <a:t>CTMv2 训练指标 vs CTM K=4</a:t>
            </a:r>
            <a:endParaRPr sz="13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4360" y="4800600"/>
          <a:ext cx="80467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t>CTMv2 (N=8,K=4)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t>CTM v1 (K=4)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Val Acc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74.22%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74.56%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Test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73.06% (↑)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72.89%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Δ Val→Test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-1.16pp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-1.67pp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NaN epochs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0 /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12 / 25 (旧版)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95960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C3E50"/>
                </a:solidFill>
                <a:latin typeface="黑体" panose="02010609060101010101" charset="-122"/>
              </a:rPr>
              <a:t>1</a:t>
            </a:r>
            <a:r>
              <a:rPr lang="en-US" sz="4000" b="1">
                <a:solidFill>
                  <a:srgbClr val="2C3E50"/>
                </a:solidFill>
                <a:latin typeface="黑体" panose="02010609060101010101" charset="-122"/>
              </a:rPr>
              <a:t>5</a:t>
            </a:r>
            <a:endParaRPr lang="en-US" sz="4000" b="1">
              <a:solidFill>
                <a:srgbClr val="2C3E50"/>
              </a:solidFill>
              <a:latin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C3E50"/>
                </a:solidFill>
                <a:latin typeface="Arial" panose="020B0604020202020204"/>
              </a:rPr>
              <a:t>CTMv2 PER-CLASS ANALYSIS</a:t>
            </a:r>
            <a:endParaRPr sz="2800" b="1">
              <a:solidFill>
                <a:srgbClr val="2C3E50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7F8C8D"/>
                </a:solidFill>
                <a:latin typeface="Arial" panose="020B0604020202020204"/>
              </a:rPr>
              <a:t>CTMv2 Test=73.06% 各类别指标 + 混淆矩阵</a:t>
            </a:r>
            <a:endParaRPr sz="1400" i="1">
              <a:solidFill>
                <a:srgbClr val="7F8C8D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457200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01952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498DB"/>
                </a:solidFill>
                <a:latin typeface="黑体" panose="02010609060101010101" charset="-122"/>
              </a:rPr>
              <a:t>CTMv2 各类别指标 (Test Acc = 73.06%)</a:t>
            </a:r>
            <a:endParaRPr sz="13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2218055"/>
          <a:ext cx="4160520" cy="176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130"/>
                <a:gridCol w="1040130"/>
                <a:gridCol w="1046480"/>
                <a:gridCol w="1033780"/>
              </a:tblGrid>
              <a:tr h="2514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angry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71%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77%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disgust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74%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fear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69%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73%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71%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happy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74%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neutral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79%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83%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81%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sad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58%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303520" y="1828800"/>
            <a:ext cx="347472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1901952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498DB"/>
                </a:solidFill>
                <a:latin typeface="黑体" panose="02010609060101010101" charset="-122"/>
              </a:rPr>
              <a:t>CTMv2 混淆矩阵 (Test)</a:t>
            </a:r>
            <a:endParaRPr sz="13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440680" y="2240280"/>
          <a:ext cx="3200400" cy="173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24828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t>Ang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t>Dis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t>Fea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t>Hap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t>Neu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黑体" panose="02010609060101010101" charset="-122"/>
                        </a:defRPr>
                      </a:pPr>
                      <a:r>
                        <a:t>Sad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Ang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167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Dis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Fea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147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Hap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Neu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131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Sad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Arial" panose="020B0604020202020204"/>
                        </a:defRPr>
                      </a:pPr>
                      <a:r>
                        <a:t>96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4389120"/>
            <a:ext cx="4023360" cy="16459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黑体" panose="02010609060101010101" charset="-122"/>
              </a:rPr>
              <a:t>CTMv2 优势</a:t>
            </a:r>
            <a:endParaRPr sz="14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3657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Neutral F1=81%: 最强类别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Angry+Disgust recall 均 85%: 均衡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0 NaN 稳定训练全程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Test 73.06% 单模型最优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754880" y="4389120"/>
            <a:ext cx="4023360" cy="16459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4480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黑体" panose="02010609060101010101" charset="-122"/>
              </a:rPr>
              <a:t>CTMv2 vs CTM K=4 关键差异</a:t>
            </a:r>
            <a:endParaRPr sz="1400" b="1">
              <a:solidFill>
                <a:srgbClr val="3498DB"/>
              </a:solidFill>
              <a:latin typeface="黑体" panose="02010609060101010101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37760" y="4800600"/>
            <a:ext cx="3657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K=4 Angry recall 91% / Disgust 61% (偏科)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v2 Angry 85% / Disgust 85% (更均衡)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K=4 Sad recall 54% &gt; v2 46%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4495E"/>
                </a:solidFill>
                <a:latin typeface="黑体" panose="02010609060101010101" charset="-122"/>
              </a:rPr>
              <a:t>▸ v2 recall 牺牲 sad 换 disgust 大幅提升</a:t>
            </a:r>
            <a:endParaRPr sz="1100">
              <a:solidFill>
                <a:srgbClr val="34495E"/>
              </a:solidFill>
              <a:latin typeface="黑体" panose="0201060906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73152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 panose="020B0604020202020204"/>
              </a:rPr>
              <a:t>CTMv2: 工作总结与展望</a:t>
            </a:r>
            <a:endParaRPr sz="2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Oval 3"/>
          <p:cNvSpPr/>
          <p:nvPr/>
        </p:nvSpPr>
        <p:spPr>
          <a:xfrm>
            <a:off x="1097280" y="1828800"/>
            <a:ext cx="457200" cy="4572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/>
              </a:rPr>
              <a:t>01</a:t>
            </a:r>
            <a:endParaRPr sz="14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黑体" panose="02010609060101010101" charset="-122"/>
              </a:rPr>
              <a:t>CTMv2 单模型 Test=73.06%, 超越 CTM K=4 (72.89%)</a:t>
            </a:r>
            <a:endParaRPr sz="1800" b="1">
              <a:solidFill>
                <a:srgbClr val="FFFFFF"/>
              </a:solidFill>
              <a:latin typeface="黑体" panose="02010609060101010101" charset="-122"/>
            </a:endParaRPr>
          </a:p>
          <a:p>
            <a:r>
              <a:rPr sz="1200">
                <a:solidFill>
                  <a:srgbClr val="BDC3C7"/>
                </a:solidFill>
                <a:latin typeface="黑体" panose="02010609060101010101" charset="-122"/>
              </a:rPr>
              <a:t>引入 NLM (8 神经元) + Synapse (N×N 连接) + Pairwise Sync, 0 NaN 稳定训练</a:t>
            </a:r>
            <a:endParaRPr sz="1200">
              <a:solidFill>
                <a:srgbClr val="BDC3C7"/>
              </a:solidFill>
              <a:latin typeface="黑体" panose="02010609060101010101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97280" y="2788920"/>
            <a:ext cx="457200" cy="4572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/>
              </a:rPr>
              <a:t>02</a:t>
            </a:r>
            <a:endParaRPr sz="14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800" y="278892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黑体" panose="02010609060101010101" charset="-122"/>
              </a:rPr>
              <a:t>CTMv2 更均衡的类别识别</a:t>
            </a:r>
            <a:endParaRPr sz="1800" b="1">
              <a:solidFill>
                <a:srgbClr val="FFFFFF"/>
              </a:solidFill>
              <a:latin typeface="黑体" panose="02010609060101010101" charset="-122"/>
            </a:endParaRPr>
          </a:p>
          <a:p>
            <a:r>
              <a:rPr sz="1200">
                <a:solidFill>
                  <a:srgbClr val="BDC3C7"/>
                </a:solidFill>
                <a:latin typeface="黑体" panose="02010609060101010101" charset="-122"/>
              </a:rPr>
              <a:t>Disgust recall 85% (vs K=4 61%), Angry recall 85% (vs K=4 91%), Neutral F1=81%</a:t>
            </a:r>
            <a:endParaRPr sz="1200">
              <a:solidFill>
                <a:srgbClr val="BDC3C7"/>
              </a:solidFill>
              <a:latin typeface="黑体" panose="02010609060101010101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97280" y="3749039"/>
            <a:ext cx="457200" cy="4572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/>
              </a:rPr>
              <a:t>03</a:t>
            </a:r>
            <a:endParaRPr sz="14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28800" y="3749039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黑体" panose="02010609060101010101" charset="-122"/>
              </a:rPr>
              <a:t>10 模型融合: VAL 76.92% / TEST 74.54%</a:t>
            </a:r>
            <a:endParaRPr sz="1800" b="1">
              <a:solidFill>
                <a:srgbClr val="FFFFFF"/>
              </a:solidFill>
              <a:latin typeface="黑体" panose="02010609060101010101" charset="-122"/>
            </a:endParaRPr>
          </a:p>
          <a:p>
            <a:r>
              <a:rPr sz="1200">
                <a:solidFill>
                  <a:srgbClr val="BDC3C7"/>
                </a:solidFill>
                <a:latin typeface="黑体" panose="02010609060101010101" charset="-122"/>
              </a:rPr>
              <a:t>加入 CTMv2 后的全架构融合, 虽未超旧 5 模型的 75.85%, 但 VAL 达新高</a:t>
            </a:r>
            <a:endParaRPr sz="1200">
              <a:solidFill>
                <a:srgbClr val="BDC3C7"/>
              </a:solidFill>
              <a:latin typeface="黑体" panose="02010609060101010101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97280" y="4709160"/>
            <a:ext cx="457200" cy="4572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/>
              </a:rPr>
              <a:t>04</a:t>
            </a:r>
            <a:endParaRPr sz="14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28800" y="470916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黑体" panose="02010609060101010101" charset="-122"/>
              </a:rPr>
              <a:t>未来方向</a:t>
            </a:r>
            <a:endParaRPr sz="1800" b="1">
              <a:solidFill>
                <a:srgbClr val="FFFFFF"/>
              </a:solidFill>
              <a:latin typeface="黑体" panose="02010609060101010101" charset="-122"/>
            </a:endParaRPr>
          </a:p>
          <a:p>
            <a:r>
              <a:rPr sz="1200">
                <a:solidFill>
                  <a:srgbClr val="BDC3C7"/>
                </a:solidFill>
                <a:latin typeface="黑体" panose="02010609060101010101" charset="-122"/>
              </a:rPr>
              <a:t>完整论文 CTM 实现 (temporal decay, 累积 sync), 更大规模 NLM (D=64/M=16)</a:t>
            </a:r>
            <a:endParaRPr sz="1200">
              <a:solidFill>
                <a:srgbClr val="BDC3C7"/>
              </a:solidFill>
              <a:latin typeface="黑体" panose="02010609060101010101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4400" y="5577840"/>
            <a:ext cx="73152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73152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63725" y="457200"/>
            <a:ext cx="54165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 panose="020B0604020202020204"/>
                <a:sym typeface="+mn-ea"/>
              </a:rPr>
              <a:t>SUMMARY &amp; CONTRIBUTIONS</a:t>
            </a:r>
            <a:endParaRPr sz="2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Oval 3"/>
          <p:cNvSpPr/>
          <p:nvPr>
            <p:custDataLst>
              <p:tags r:id="rId1"/>
            </p:custDataLst>
          </p:nvPr>
        </p:nvSpPr>
        <p:spPr>
          <a:xfrm>
            <a:off x="1097280" y="1828800"/>
            <a:ext cx="457200" cy="4572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/>
              </a:rPr>
              <a:t>01</a:t>
            </a:r>
            <a:endParaRPr sz="14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828800" y="1828800"/>
            <a:ext cx="6050280" cy="5530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黑体" panose="02010609060101010101" charset="-122"/>
                <a:sym typeface="+mn-ea"/>
              </a:rPr>
              <a:t>CTM 迭代推理有效: Val + Test 双验证</a:t>
            </a:r>
            <a:endParaRPr b="1">
              <a:solidFill>
                <a:srgbClr val="FFFFFF"/>
              </a:solidFill>
              <a:latin typeface="黑体" panose="02010609060101010101" charset="-122"/>
            </a:endParaRPr>
          </a:p>
          <a:p>
            <a:pPr algn="l"/>
            <a:r>
              <a:rPr sz="1200">
                <a:solidFill>
                  <a:srgbClr val="BDC3C7"/>
                </a:solidFill>
                <a:latin typeface="黑体" panose="02010609060101010101" charset="-122"/>
                <a:sym typeface="+mn-ea"/>
              </a:rPr>
              <a:t>K=1&lt;K=2&lt;K=4, CTM K=4 Test=72.89%, 每步推理都有增量价值, ΔVal→Test 仅 1.67pp</a:t>
            </a:r>
            <a:endParaRPr sz="1200">
              <a:solidFill>
                <a:srgbClr val="BDC3C7"/>
              </a:solidFill>
              <a:latin typeface="黑体" panose="02010609060101010101" charset="-122"/>
            </a:endParaRPr>
          </a:p>
        </p:txBody>
      </p:sp>
      <p:sp>
        <p:nvSpPr>
          <p:cNvPr id="6" name="Oval 5"/>
          <p:cNvSpPr/>
          <p:nvPr>
            <p:custDataLst>
              <p:tags r:id="rId3"/>
            </p:custDataLst>
          </p:nvPr>
        </p:nvSpPr>
        <p:spPr>
          <a:xfrm>
            <a:off x="1097280" y="2788920"/>
            <a:ext cx="457200" cy="4572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/>
              </a:rPr>
              <a:t>02</a:t>
            </a:r>
            <a:endParaRPr sz="14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1828800" y="2788920"/>
            <a:ext cx="4220210" cy="5530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黑体" panose="02010609060101010101" charset="-122"/>
                <a:sym typeface="+mn-ea"/>
              </a:rPr>
              <a:t>池化三级递进: Mean &lt; Attn &lt; CTM K=4</a:t>
            </a:r>
            <a:endParaRPr b="1">
              <a:solidFill>
                <a:srgbClr val="FFFFFF"/>
              </a:solidFill>
              <a:latin typeface="黑体" panose="02010609060101010101" charset="-122"/>
            </a:endParaRPr>
          </a:p>
          <a:p>
            <a:pPr algn="l"/>
            <a:r>
              <a:rPr sz="1200">
                <a:solidFill>
                  <a:srgbClr val="BDC3C7"/>
                </a:solidFill>
                <a:latin typeface="黑体" panose="02010609060101010101" charset="-122"/>
                <a:sym typeface="+mn-ea"/>
              </a:rPr>
              <a:t>Mean(69.83%) → CTM K=4(72.89%), 每层设计有明确增益</a:t>
            </a:r>
            <a:endParaRPr sz="1200">
              <a:solidFill>
                <a:srgbClr val="BDC3C7"/>
              </a:solidFill>
              <a:latin typeface="黑体" panose="02010609060101010101" charset="-122"/>
            </a:endParaRPr>
          </a:p>
        </p:txBody>
      </p:sp>
      <p:sp>
        <p:nvSpPr>
          <p:cNvPr id="8" name="Oval 7"/>
          <p:cNvSpPr/>
          <p:nvPr>
            <p:custDataLst>
              <p:tags r:id="rId5"/>
            </p:custDataLst>
          </p:nvPr>
        </p:nvSpPr>
        <p:spPr>
          <a:xfrm>
            <a:off x="1097280" y="3749039"/>
            <a:ext cx="457200" cy="4572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/>
              </a:rPr>
              <a:t>03</a:t>
            </a:r>
            <a:endParaRPr sz="14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1828800" y="3749039"/>
            <a:ext cx="5974080" cy="5530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黑体" panose="02010609060101010101" charset="-122"/>
                <a:sym typeface="+mn-ea"/>
              </a:rPr>
              <a:t>WavLM-base 达到 competitive 水平</a:t>
            </a:r>
            <a:endParaRPr b="1">
              <a:solidFill>
                <a:srgbClr val="FFFFFF"/>
              </a:solidFill>
              <a:latin typeface="黑体" panose="02010609060101010101" charset="-122"/>
            </a:endParaRPr>
          </a:p>
          <a:p>
            <a:pPr algn="l"/>
            <a:r>
              <a:rPr sz="1200">
                <a:solidFill>
                  <a:srgbClr val="BDC3C7"/>
                </a:solidFill>
                <a:latin typeface="黑体" panose="02010609060101010101" charset="-122"/>
                <a:sym typeface="+mn-ea"/>
              </a:rPr>
              <a:t>单模型 Test 72.89%、融合 Test 75.85%, 在 EmoBox 基准中近似 WavLM-large(139M)</a:t>
            </a:r>
            <a:endParaRPr sz="1200">
              <a:solidFill>
                <a:srgbClr val="BDC3C7"/>
              </a:solidFill>
              <a:latin typeface="黑体" panose="02010609060101010101" charset="-122"/>
            </a:endParaRPr>
          </a:p>
        </p:txBody>
      </p:sp>
      <p:sp>
        <p:nvSpPr>
          <p:cNvPr id="10" name="Oval 9"/>
          <p:cNvSpPr/>
          <p:nvPr>
            <p:custDataLst>
              <p:tags r:id="rId7"/>
            </p:custDataLst>
          </p:nvPr>
        </p:nvSpPr>
        <p:spPr>
          <a:xfrm>
            <a:off x="1097280" y="4709160"/>
            <a:ext cx="457200" cy="4572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/>
              </a:rPr>
              <a:t>04</a:t>
            </a:r>
            <a:endParaRPr sz="14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1828800" y="4709160"/>
            <a:ext cx="6507480" cy="5530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黑体" panose="02010609060101010101" charset="-122"/>
                <a:sym typeface="+mn-ea"/>
              </a:rPr>
              <a:t>CTM 参数效率极高</a:t>
            </a:r>
            <a:endParaRPr b="1">
              <a:solidFill>
                <a:srgbClr val="FFFFFF"/>
              </a:solidFill>
              <a:latin typeface="黑体" panose="02010609060101010101" charset="-122"/>
            </a:endParaRPr>
          </a:p>
          <a:p>
            <a:pPr algn="l"/>
            <a:r>
              <a:rPr sz="1200">
                <a:solidFill>
                  <a:srgbClr val="BDC3C7"/>
                </a:solidFill>
                <a:latin typeface="黑体" panose="02010609060101010101" charset="-122"/>
                <a:sym typeface="+mn-ea"/>
              </a:rPr>
              <a:t>CTM head 仅增 0.6M 参数 (0.6%), 远优于 MoE 的 5.2M (5.5%), SupCon+CE 为最优损失组合</a:t>
            </a:r>
            <a:endParaRPr sz="1200">
              <a:solidFill>
                <a:srgbClr val="BDC3C7"/>
              </a:solidFill>
              <a:latin typeface="黑体" panose="02010609060101010101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4400" y="5577840"/>
            <a:ext cx="73152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文本框 13"/>
          <p:cNvSpPr txBox="1"/>
          <p:nvPr/>
        </p:nvSpPr>
        <p:spPr>
          <a:xfrm>
            <a:off x="2286000" y="5878195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1600">
                <a:solidFill>
                  <a:srgbClr val="AEC6E0"/>
                </a:solidFill>
                <a:latin typeface="黑体" panose="02010609060101010101" charset="-122"/>
                <a:sym typeface="+mn-ea"/>
              </a:rPr>
              <a:t>谢谢！欢迎提问</a:t>
            </a:r>
            <a:endParaRPr lang="zh-CN" altLang="en-US" sz="1600">
              <a:solidFill>
                <a:srgbClr val="AEC6E0"/>
              </a:solidFill>
              <a:latin typeface="黑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1.6,&quot;left&quot;:36,&quot;top&quot;:144,&quot;width&quot;:655.2}"/>
</p:tagLst>
</file>

<file path=ppt/tags/tag2.xml><?xml version="1.0" encoding="utf-8"?>
<p:tagLst xmlns:p="http://schemas.openxmlformats.org/presentationml/2006/main">
  <p:tag name="KSO_WM_DIAGRAM_VIRTUALLY_FRAME" val="{&quot;height&quot;:201.6,&quot;left&quot;:36,&quot;top&quot;:144,&quot;width&quot;:655.2}"/>
</p:tagLst>
</file>

<file path=ppt/tags/tag3.xml><?xml version="1.0" encoding="utf-8"?>
<p:tagLst xmlns:p="http://schemas.openxmlformats.org/presentationml/2006/main">
  <p:tag name="KSO_WM_DIAGRAM_VIRTUALLY_FRAME" val="{&quot;height&quot;:201.6,&quot;left&quot;:36,&quot;top&quot;:144,&quot;width&quot;:655.2}"/>
</p:tagLst>
</file>

<file path=ppt/tags/tag4.xml><?xml version="1.0" encoding="utf-8"?>
<p:tagLst xmlns:p="http://schemas.openxmlformats.org/presentationml/2006/main">
  <p:tag name="KSO_WM_DIAGRAM_VIRTUALLY_FRAME" val="{&quot;height&quot;:201.6,&quot;left&quot;:36,&quot;top&quot;:144,&quot;width&quot;:655.2}"/>
</p:tagLst>
</file>

<file path=ppt/tags/tag5.xml><?xml version="1.0" encoding="utf-8"?>
<p:tagLst xmlns:p="http://schemas.openxmlformats.org/presentationml/2006/main">
  <p:tag name="KSO_WM_DIAGRAM_VIRTUALLY_FRAME" val="{&quot;height&quot;:201.6,&quot;left&quot;:36,&quot;top&quot;:144,&quot;width&quot;:655.2}"/>
</p:tagLst>
</file>

<file path=ppt/tags/tag6.xml><?xml version="1.0" encoding="utf-8"?>
<p:tagLst xmlns:p="http://schemas.openxmlformats.org/presentationml/2006/main">
  <p:tag name="KSO_WM_DIAGRAM_VIRTUALLY_FRAME" val="{&quot;height&quot;:201.6,&quot;left&quot;:36,&quot;top&quot;:144,&quot;width&quot;:655.2}"/>
</p:tagLst>
</file>

<file path=ppt/tags/tag7.xml><?xml version="1.0" encoding="utf-8"?>
<p:tagLst xmlns:p="http://schemas.openxmlformats.org/presentationml/2006/main">
  <p:tag name="KSO_WM_DIAGRAM_VIRTUALLY_FRAME" val="{&quot;height&quot;:273.6,&quot;left&quot;:36,&quot;top&quot;:144,&quot;width&quot;:655.2}"/>
</p:tagLst>
</file>

<file path=ppt/tags/tag8.xml><?xml version="1.0" encoding="utf-8"?>
<p:tagLst xmlns:p="http://schemas.openxmlformats.org/presentationml/2006/main">
  <p:tag name="KSO_WM_DIAGRAM_VIRTUALLY_FRAME" val="{&quot;height&quot;:273.6,&quot;left&quot;:36,&quot;top&quot;:144,&quot;width&quot;:655.2}"/>
</p:tagLst>
</file>

<file path=ppt/tags/tag9.xml><?xml version="1.0" encoding="utf-8"?>
<p:tagLst xmlns:p="http://schemas.openxmlformats.org/presentationml/2006/main">
  <p:tag name="KSO_WM_DIAGRAM_VIRTUALLY_FRAME" val="{&quot;height&quot;:273.6,&quot;left&quot;:36,&quot;top&quot;:144,&quot;width&quot;:655.2}"/>
</p:tagLst>
</file>

<file path=ppt/tags/tag10.xml><?xml version="1.0" encoding="utf-8"?>
<p:tagLst xmlns:p="http://schemas.openxmlformats.org/presentationml/2006/main">
  <p:tag name="KSO_WM_DIAGRAM_VIRTUALLY_FRAME" val="{&quot;height&quot;:273.6,&quot;left&quot;:36,&quot;top&quot;:144,&quot;width&quot;:655.2}"/>
</p:tagLst>
</file>

<file path=ppt/tags/tag11.xml><?xml version="1.0" encoding="utf-8"?>
<p:tagLst xmlns:p="http://schemas.openxmlformats.org/presentationml/2006/main">
  <p:tag name="KSO_WM_DIAGRAM_VIRTUALLY_FRAME" val="{&quot;height&quot;:273.6,&quot;left&quot;:36,&quot;top&quot;:144,&quot;width&quot;:655.2}"/>
</p:tagLst>
</file>

<file path=ppt/tags/tag12.xml><?xml version="1.0" encoding="utf-8"?>
<p:tagLst xmlns:p="http://schemas.openxmlformats.org/presentationml/2006/main">
  <p:tag name="KSO_WM_DIAGRAM_VIRTUALLY_FRAME" val="{&quot;height&quot;:273.6,&quot;left&quot;:36,&quot;top&quot;:144,&quot;width&quot;:655.2}"/>
</p:tagLst>
</file>

<file path=ppt/tags/tag13.xml><?xml version="1.0" encoding="utf-8"?>
<p:tagLst xmlns:p="http://schemas.openxmlformats.org/presentationml/2006/main">
  <p:tag name="KSO_WM_DIAGRAM_VIRTUALLY_FRAME" val="{&quot;height&quot;:273.6,&quot;left&quot;:36,&quot;top&quot;:144,&quot;width&quot;:655.2}"/>
</p:tagLst>
</file>

<file path=ppt/tags/tag14.xml><?xml version="1.0" encoding="utf-8"?>
<p:tagLst xmlns:p="http://schemas.openxmlformats.org/presentationml/2006/main">
  <p:tag name="KSO_WM_DIAGRAM_VIRTUALLY_FRAME" val="{&quot;height&quot;:273.6,&quot;left&quot;:36,&quot;top&quot;:144,&quot;width&quot;:655.2}"/>
</p:tagLst>
</file>

<file path=ppt/tags/tag15.xml><?xml version="1.0" encoding="utf-8"?>
<p:tagLst xmlns:p="http://schemas.openxmlformats.org/presentationml/2006/main">
  <p:tag name="KSO_WM_DIAGRAM_VIRTUALLY_FRAME" val="{&quot;height&quot;:273.6,&quot;left&quot;:36,&quot;top&quot;:144,&quot;width&quot;:655.2}"/>
</p:tagLst>
</file>

<file path=ppt/tags/tag16.xml><?xml version="1.0" encoding="utf-8"?>
<p:tagLst xmlns:p="http://schemas.openxmlformats.org/presentationml/2006/main">
  <p:tag name="KSO_WM_DIAGRAM_VIRTUALLY_FRAME" val="{&quot;height&quot;:273.6,&quot;left&quot;:36,&quot;top&quot;:144,&quot;width&quot;:655.2}"/>
</p:tagLst>
</file>

<file path=ppt/tags/tag17.xml><?xml version="1.0" encoding="utf-8"?>
<p:tagLst xmlns:p="http://schemas.openxmlformats.org/presentationml/2006/main">
  <p:tag name="KSO_WM_DIAGRAM_VIRTUALLY_FRAME" val="{&quot;height&quot;:273.6,&quot;left&quot;:36,&quot;top&quot;:144,&quot;width&quot;:655.2}"/>
</p:tagLst>
</file>

<file path=ppt/tags/tag18.xml><?xml version="1.0" encoding="utf-8"?>
<p:tagLst xmlns:p="http://schemas.openxmlformats.org/presentationml/2006/main">
  <p:tag name="KSO_WM_DIAGRAM_VIRTUALLY_FRAME" val="{&quot;height&quot;:273.6,&quot;left&quot;:36,&quot;top&quot;:144,&quot;width&quot;:655.2}"/>
</p:tagLst>
</file>

<file path=ppt/tags/tag19.xml><?xml version="1.0" encoding="utf-8"?>
<p:tagLst xmlns:p="http://schemas.openxmlformats.org/presentationml/2006/main">
  <p:tag name="TABLE_ENDDRAG_ORIGIN_RECT" val="252*136"/>
  <p:tag name="TABLE_ENDDRAG_RECT" val="428*176*252*136"/>
</p:tagLst>
</file>

<file path=ppt/tags/tag20.xml><?xml version="1.0" encoding="utf-8"?>
<p:tagLst xmlns:p="http://schemas.openxmlformats.org/presentationml/2006/main">
  <p:tag name="KSO_WM_DIAGRAM_VIRTUALLY_FRAME" val="{&quot;height&quot;:277.6,&quot;left&quot;:86.4,&quot;top&quot;:144,&quot;width&quot;:819}"/>
</p:tagLst>
</file>

<file path=ppt/tags/tag21.xml><?xml version="1.0" encoding="utf-8"?>
<p:tagLst xmlns:p="http://schemas.openxmlformats.org/presentationml/2006/main">
  <p:tag name="KSO_WM_DIAGRAM_VIRTUALLY_FRAME" val="{&quot;height&quot;:277.6,&quot;left&quot;:86.4,&quot;top&quot;:144,&quot;width&quot;:819}"/>
</p:tagLst>
</file>

<file path=ppt/tags/tag22.xml><?xml version="1.0" encoding="utf-8"?>
<p:tagLst xmlns:p="http://schemas.openxmlformats.org/presentationml/2006/main">
  <p:tag name="KSO_WM_DIAGRAM_VIRTUALLY_FRAME" val="{&quot;height&quot;:277.6,&quot;left&quot;:86.4,&quot;top&quot;:144,&quot;width&quot;:819}"/>
</p:tagLst>
</file>

<file path=ppt/tags/tag23.xml><?xml version="1.0" encoding="utf-8"?>
<p:tagLst xmlns:p="http://schemas.openxmlformats.org/presentationml/2006/main">
  <p:tag name="KSO_WM_DIAGRAM_VIRTUALLY_FRAME" val="{&quot;height&quot;:277.6,&quot;left&quot;:86.4,&quot;top&quot;:144,&quot;width&quot;:819}"/>
</p:tagLst>
</file>

<file path=ppt/tags/tag24.xml><?xml version="1.0" encoding="utf-8"?>
<p:tagLst xmlns:p="http://schemas.openxmlformats.org/presentationml/2006/main">
  <p:tag name="KSO_WM_DIAGRAM_VIRTUALLY_FRAME" val="{&quot;height&quot;:277.6,&quot;left&quot;:86.4,&quot;top&quot;:144,&quot;width&quot;:819}"/>
</p:tagLst>
</file>

<file path=ppt/tags/tag25.xml><?xml version="1.0" encoding="utf-8"?>
<p:tagLst xmlns:p="http://schemas.openxmlformats.org/presentationml/2006/main">
  <p:tag name="KSO_WM_DIAGRAM_VIRTUALLY_FRAME" val="{&quot;height&quot;:277.6,&quot;left&quot;:86.4,&quot;top&quot;:144,&quot;width&quot;:819}"/>
</p:tagLst>
</file>

<file path=ppt/tags/tag26.xml><?xml version="1.0" encoding="utf-8"?>
<p:tagLst xmlns:p="http://schemas.openxmlformats.org/presentationml/2006/main">
  <p:tag name="KSO_WM_DIAGRAM_VIRTUALLY_FRAME" val="{&quot;height&quot;:277.6,&quot;left&quot;:86.4,&quot;top&quot;:144,&quot;width&quot;:819}"/>
</p:tagLst>
</file>

<file path=ppt/tags/tag27.xml><?xml version="1.0" encoding="utf-8"?>
<p:tagLst xmlns:p="http://schemas.openxmlformats.org/presentationml/2006/main">
  <p:tag name="KSO_WM_DIAGRAM_VIRTUALLY_FRAME" val="{&quot;height&quot;:277.6,&quot;left&quot;:86.4,&quot;top&quot;:144,&quot;width&quot;:81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7504</Words>
  <Application>WPS 演示</Application>
  <PresentationFormat>On-screen Show (4:3)</PresentationFormat>
  <Paragraphs>1040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宋体</vt:lpstr>
      <vt:lpstr>Wingdings</vt:lpstr>
      <vt:lpstr>Arial</vt:lpstr>
      <vt:lpstr>黑体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史熙来</cp:lastModifiedBy>
  <cp:revision>11</cp:revision>
  <dcterms:created xsi:type="dcterms:W3CDTF">2013-01-27T09:14:00Z</dcterms:created>
  <dcterms:modified xsi:type="dcterms:W3CDTF">2026-06-14T11:28:02Z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6EEFF626B96B464EA50550EBA8608186_12</vt:lpwstr>
  </property>
</Properties>
</file>